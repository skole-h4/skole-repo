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4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yst layout 2 - Markering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8640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6839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93467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2008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29986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1560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0941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0791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6667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k 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2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5617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4150838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59263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9098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nner med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22270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46638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476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5300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  <p:sldLayoutId id="2147483778" r:id="rId14"/>
    <p:sldLayoutId id="2147483779" r:id="rId15"/>
    <p:sldLayoutId id="2147483780" r:id="rId16"/>
    <p:sldLayoutId id="2147483781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BEC550-9D4A-1895-FEF4-BFAF1D4D5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14" b="3874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E5750D3-4AE5-9A5D-4892-9E4624241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75147"/>
            <a:ext cx="7978385" cy="916234"/>
          </a:xfrm>
        </p:spPr>
        <p:txBody>
          <a:bodyPr anchor="ctr">
            <a:normAutofit/>
          </a:bodyPr>
          <a:lstStyle/>
          <a:p>
            <a:r>
              <a:rPr lang="da-DK" sz="3600" dirty="0" err="1"/>
              <a:t>Iot</a:t>
            </a:r>
            <a:r>
              <a:rPr lang="da-DK" sz="3600" dirty="0"/>
              <a:t> Klima Sensor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ADABEA39-01F8-095E-FE63-493E740892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8426" y="196597"/>
            <a:ext cx="3634494" cy="868139"/>
          </a:xfrm>
        </p:spPr>
        <p:txBody>
          <a:bodyPr anchor="ctr">
            <a:normAutofit/>
          </a:bodyPr>
          <a:lstStyle/>
          <a:p>
            <a:pPr algn="r"/>
            <a:r>
              <a:rPr lang="da-DK" sz="1800" dirty="0"/>
              <a:t>ZBC Ringsted – </a:t>
            </a:r>
            <a:r>
              <a:rPr lang="da-DK" sz="1800" dirty="0" err="1"/>
              <a:t>Datatekniker</a:t>
            </a:r>
            <a:r>
              <a:rPr lang="da-DK" sz="1800" dirty="0"/>
              <a:t> - Martin Sandgaard</a:t>
            </a:r>
          </a:p>
        </p:txBody>
      </p:sp>
    </p:spTree>
    <p:extLst>
      <p:ext uri="{BB962C8B-B14F-4D97-AF65-F5344CB8AC3E}">
        <p14:creationId xmlns:p14="http://schemas.microsoft.com/office/powerpoint/2010/main" val="16969663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2">
            <a:extLst>
              <a:ext uri="{FF2B5EF4-FFF2-40B4-BE49-F238E27FC236}">
                <a16:creationId xmlns:a16="http://schemas.microsoft.com/office/drawing/2014/main" id="{50C065C3-0FE3-4452-B765-CB05BBB2A9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9795E515-5F57-431F-9A0D-3A0419DF75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40" name="Rectangle 5">
              <a:extLst>
                <a:ext uri="{FF2B5EF4-FFF2-40B4-BE49-F238E27FC236}">
                  <a16:creationId xmlns:a16="http://schemas.microsoft.com/office/drawing/2014/main" id="{D45BCBFE-0478-4767-BF2E-FC2C548BA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E903928F-F6DA-470C-81A0-CF7D9DE034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2" name="Freeform 7">
              <a:extLst>
                <a:ext uri="{FF2B5EF4-FFF2-40B4-BE49-F238E27FC236}">
                  <a16:creationId xmlns:a16="http://schemas.microsoft.com/office/drawing/2014/main" id="{ADA095F6-E326-4450-A2D6-DB2BF989B8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3" name="Rectangle 8">
              <a:extLst>
                <a:ext uri="{FF2B5EF4-FFF2-40B4-BE49-F238E27FC236}">
                  <a16:creationId xmlns:a16="http://schemas.microsoft.com/office/drawing/2014/main" id="{6B067F9A-FDF2-49EC-B4FF-CD4B90F78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F1331213-D19D-49FC-8616-168A14565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Freeform 10">
              <a:extLst>
                <a:ext uri="{FF2B5EF4-FFF2-40B4-BE49-F238E27FC236}">
                  <a16:creationId xmlns:a16="http://schemas.microsoft.com/office/drawing/2014/main" id="{2ADFE242-96FC-4A14-8C59-90CD6DE1D9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6" name="Freeform 11">
              <a:extLst>
                <a:ext uri="{FF2B5EF4-FFF2-40B4-BE49-F238E27FC236}">
                  <a16:creationId xmlns:a16="http://schemas.microsoft.com/office/drawing/2014/main" id="{6A97B7BC-40BD-494B-9C6B-AF304555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7" name="Freeform 12">
              <a:extLst>
                <a:ext uri="{FF2B5EF4-FFF2-40B4-BE49-F238E27FC236}">
                  <a16:creationId xmlns:a16="http://schemas.microsoft.com/office/drawing/2014/main" id="{3D7F35CF-F44C-491F-904D-A31ED83213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8" name="Freeform 13">
              <a:extLst>
                <a:ext uri="{FF2B5EF4-FFF2-40B4-BE49-F238E27FC236}">
                  <a16:creationId xmlns:a16="http://schemas.microsoft.com/office/drawing/2014/main" id="{84D9BF7E-18C2-452C-B139-4ED58D7A03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49" name="Freeform 14">
              <a:extLst>
                <a:ext uri="{FF2B5EF4-FFF2-40B4-BE49-F238E27FC236}">
                  <a16:creationId xmlns:a16="http://schemas.microsoft.com/office/drawing/2014/main" id="{700A6223-AD38-426F-A6FE-7926CAEF3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0" name="Freeform 15">
              <a:extLst>
                <a:ext uri="{FF2B5EF4-FFF2-40B4-BE49-F238E27FC236}">
                  <a16:creationId xmlns:a16="http://schemas.microsoft.com/office/drawing/2014/main" id="{D172AA94-449F-45EB-94E6-67C186C32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1" name="Freeform 16">
              <a:extLst>
                <a:ext uri="{FF2B5EF4-FFF2-40B4-BE49-F238E27FC236}">
                  <a16:creationId xmlns:a16="http://schemas.microsoft.com/office/drawing/2014/main" id="{A7D4F697-8937-4F4C-83C5-770B3FCB82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2" name="Freeform 17">
              <a:extLst>
                <a:ext uri="{FF2B5EF4-FFF2-40B4-BE49-F238E27FC236}">
                  <a16:creationId xmlns:a16="http://schemas.microsoft.com/office/drawing/2014/main" id="{10AF1D59-5117-4D47-8414-4BB61F944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3" name="Freeform 18">
              <a:extLst>
                <a:ext uri="{FF2B5EF4-FFF2-40B4-BE49-F238E27FC236}">
                  <a16:creationId xmlns:a16="http://schemas.microsoft.com/office/drawing/2014/main" id="{2387DC33-88B3-4718-8C94-41659EA33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D4E7EC64-4763-4F04-B2E4-E400364D7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5" name="Freeform 20">
              <a:extLst>
                <a:ext uri="{FF2B5EF4-FFF2-40B4-BE49-F238E27FC236}">
                  <a16:creationId xmlns:a16="http://schemas.microsoft.com/office/drawing/2014/main" id="{581717DF-9FD4-47CB-9579-E34DF7E875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6" name="Freeform 21">
              <a:extLst>
                <a:ext uri="{FF2B5EF4-FFF2-40B4-BE49-F238E27FC236}">
                  <a16:creationId xmlns:a16="http://schemas.microsoft.com/office/drawing/2014/main" id="{BCD8EF50-6E58-4B2D-90B6-AFF236A73B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7" name="Freeform 22">
              <a:extLst>
                <a:ext uri="{FF2B5EF4-FFF2-40B4-BE49-F238E27FC236}">
                  <a16:creationId xmlns:a16="http://schemas.microsoft.com/office/drawing/2014/main" id="{6524A268-142A-4CBF-BB8B-DC1FCBC8F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8" name="Freeform 23">
              <a:extLst>
                <a:ext uri="{FF2B5EF4-FFF2-40B4-BE49-F238E27FC236}">
                  <a16:creationId xmlns:a16="http://schemas.microsoft.com/office/drawing/2014/main" id="{56A0E6F3-B76B-4813-B44B-56CE11A8A0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59" name="Freeform 24">
              <a:extLst>
                <a:ext uri="{FF2B5EF4-FFF2-40B4-BE49-F238E27FC236}">
                  <a16:creationId xmlns:a16="http://schemas.microsoft.com/office/drawing/2014/main" id="{A74CED8D-B902-4B76-9CC8-30A09B2FA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0" name="Freeform 25">
              <a:extLst>
                <a:ext uri="{FF2B5EF4-FFF2-40B4-BE49-F238E27FC236}">
                  <a16:creationId xmlns:a16="http://schemas.microsoft.com/office/drawing/2014/main" id="{ED007BD7-ED56-4566-B1FF-707160024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1" name="Freeform 26">
              <a:extLst>
                <a:ext uri="{FF2B5EF4-FFF2-40B4-BE49-F238E27FC236}">
                  <a16:creationId xmlns:a16="http://schemas.microsoft.com/office/drawing/2014/main" id="{90AD48D2-5BC8-4C80-B126-B1A20124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2" name="Freeform 27">
              <a:extLst>
                <a:ext uri="{FF2B5EF4-FFF2-40B4-BE49-F238E27FC236}">
                  <a16:creationId xmlns:a16="http://schemas.microsoft.com/office/drawing/2014/main" id="{BE14C82F-9F35-4D61-B758-7BCE32DEC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3" name="Freeform 28">
              <a:extLst>
                <a:ext uri="{FF2B5EF4-FFF2-40B4-BE49-F238E27FC236}">
                  <a16:creationId xmlns:a16="http://schemas.microsoft.com/office/drawing/2014/main" id="{6540CE06-9028-497A-AC64-CF0ED60A74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4" name="Freeform 29">
              <a:extLst>
                <a:ext uri="{FF2B5EF4-FFF2-40B4-BE49-F238E27FC236}">
                  <a16:creationId xmlns:a16="http://schemas.microsoft.com/office/drawing/2014/main" id="{A4825B3B-52CD-4F08-BA02-6C2B0EFEDE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5" name="Freeform 30">
              <a:extLst>
                <a:ext uri="{FF2B5EF4-FFF2-40B4-BE49-F238E27FC236}">
                  <a16:creationId xmlns:a16="http://schemas.microsoft.com/office/drawing/2014/main" id="{6877A5EF-B8B8-44D3-AA57-4BBF89206D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6" name="Freeform 31">
              <a:extLst>
                <a:ext uri="{FF2B5EF4-FFF2-40B4-BE49-F238E27FC236}">
                  <a16:creationId xmlns:a16="http://schemas.microsoft.com/office/drawing/2014/main" id="{00BB365C-9180-4208-92CF-AB6A88848C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7" name="Freeform 32">
              <a:extLst>
                <a:ext uri="{FF2B5EF4-FFF2-40B4-BE49-F238E27FC236}">
                  <a16:creationId xmlns:a16="http://schemas.microsoft.com/office/drawing/2014/main" id="{8D1134D2-53A6-41D5-AC1A-5254A2FBD0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8" name="Rectangle 33">
              <a:extLst>
                <a:ext uri="{FF2B5EF4-FFF2-40B4-BE49-F238E27FC236}">
                  <a16:creationId xmlns:a16="http://schemas.microsoft.com/office/drawing/2014/main" id="{24C7FA73-07CD-479A-9B9E-DAD4D3B2B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69" name="Freeform 34">
              <a:extLst>
                <a:ext uri="{FF2B5EF4-FFF2-40B4-BE49-F238E27FC236}">
                  <a16:creationId xmlns:a16="http://schemas.microsoft.com/office/drawing/2014/main" id="{AB24DF92-B081-4701-B58D-913261A00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0" name="Freeform 35">
              <a:extLst>
                <a:ext uri="{FF2B5EF4-FFF2-40B4-BE49-F238E27FC236}">
                  <a16:creationId xmlns:a16="http://schemas.microsoft.com/office/drawing/2014/main" id="{AB4DF275-6B82-4AA9-A7A9-138E631E30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1" name="Freeform 36">
              <a:extLst>
                <a:ext uri="{FF2B5EF4-FFF2-40B4-BE49-F238E27FC236}">
                  <a16:creationId xmlns:a16="http://schemas.microsoft.com/office/drawing/2014/main" id="{972A3812-16AD-453E-B1E6-9F39894F79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2" name="Freeform 37">
              <a:extLst>
                <a:ext uri="{FF2B5EF4-FFF2-40B4-BE49-F238E27FC236}">
                  <a16:creationId xmlns:a16="http://schemas.microsoft.com/office/drawing/2014/main" id="{8FB6759A-BAD8-4073-86A2-6DDD73DE2A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3" name="Freeform 38">
              <a:extLst>
                <a:ext uri="{FF2B5EF4-FFF2-40B4-BE49-F238E27FC236}">
                  <a16:creationId xmlns:a16="http://schemas.microsoft.com/office/drawing/2014/main" id="{9FCCB0F4-1178-47C1-9EE2-234EA715C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4" name="Freeform 39">
              <a:extLst>
                <a:ext uri="{FF2B5EF4-FFF2-40B4-BE49-F238E27FC236}">
                  <a16:creationId xmlns:a16="http://schemas.microsoft.com/office/drawing/2014/main" id="{CB01BF0B-7EB0-4C18-80BE-20D2EAC048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5" name="Freeform 40">
              <a:extLst>
                <a:ext uri="{FF2B5EF4-FFF2-40B4-BE49-F238E27FC236}">
                  <a16:creationId xmlns:a16="http://schemas.microsoft.com/office/drawing/2014/main" id="{3266E9DA-C937-48E0-8F98-90A467760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6" name="Freeform 41">
              <a:extLst>
                <a:ext uri="{FF2B5EF4-FFF2-40B4-BE49-F238E27FC236}">
                  <a16:creationId xmlns:a16="http://schemas.microsoft.com/office/drawing/2014/main" id="{A8A9C00D-0425-4E68-A1DE-BCE5BD6BB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46230904-E744-4B55-84FF-826A6B737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8" name="Freeform 43">
              <a:extLst>
                <a:ext uri="{FF2B5EF4-FFF2-40B4-BE49-F238E27FC236}">
                  <a16:creationId xmlns:a16="http://schemas.microsoft.com/office/drawing/2014/main" id="{D4291668-8AF0-4784-BC06-870768F53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79" name="Freeform 44">
              <a:extLst>
                <a:ext uri="{FF2B5EF4-FFF2-40B4-BE49-F238E27FC236}">
                  <a16:creationId xmlns:a16="http://schemas.microsoft.com/office/drawing/2014/main" id="{D917DCBD-774B-4AAF-92AE-D18289FFC4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0" name="Rectangle 45">
              <a:extLst>
                <a:ext uri="{FF2B5EF4-FFF2-40B4-BE49-F238E27FC236}">
                  <a16:creationId xmlns:a16="http://schemas.microsoft.com/office/drawing/2014/main" id="{9E50122E-0F19-4D65-9CB2-E22C3EA84A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1" name="Freeform 46">
              <a:extLst>
                <a:ext uri="{FF2B5EF4-FFF2-40B4-BE49-F238E27FC236}">
                  <a16:creationId xmlns:a16="http://schemas.microsoft.com/office/drawing/2014/main" id="{BC28A765-6E8B-4352-BD0C-35474F70AC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2" name="Freeform 47">
              <a:extLst>
                <a:ext uri="{FF2B5EF4-FFF2-40B4-BE49-F238E27FC236}">
                  <a16:creationId xmlns:a16="http://schemas.microsoft.com/office/drawing/2014/main" id="{0AC30A17-F494-44EB-9817-1B8B255CE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3" name="Freeform 48">
              <a:extLst>
                <a:ext uri="{FF2B5EF4-FFF2-40B4-BE49-F238E27FC236}">
                  <a16:creationId xmlns:a16="http://schemas.microsoft.com/office/drawing/2014/main" id="{6088D59F-32BD-4932-9C22-9AA0FCDA74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4" name="Freeform 49">
              <a:extLst>
                <a:ext uri="{FF2B5EF4-FFF2-40B4-BE49-F238E27FC236}">
                  <a16:creationId xmlns:a16="http://schemas.microsoft.com/office/drawing/2014/main" id="{B18BBE45-5F21-47FA-B291-AC802D715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5" name="Freeform 50">
              <a:extLst>
                <a:ext uri="{FF2B5EF4-FFF2-40B4-BE49-F238E27FC236}">
                  <a16:creationId xmlns:a16="http://schemas.microsoft.com/office/drawing/2014/main" id="{A1BD992D-1C4B-4E69-A627-A45D8958E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6" name="Freeform 51">
              <a:extLst>
                <a:ext uri="{FF2B5EF4-FFF2-40B4-BE49-F238E27FC236}">
                  <a16:creationId xmlns:a16="http://schemas.microsoft.com/office/drawing/2014/main" id="{571C0498-7105-455E-8B0A-233F850F18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7" name="Freeform 52">
              <a:extLst>
                <a:ext uri="{FF2B5EF4-FFF2-40B4-BE49-F238E27FC236}">
                  <a16:creationId xmlns:a16="http://schemas.microsoft.com/office/drawing/2014/main" id="{F6FA78CC-C0B1-422F-B535-05580A9716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8" name="Freeform 53">
              <a:extLst>
                <a:ext uri="{FF2B5EF4-FFF2-40B4-BE49-F238E27FC236}">
                  <a16:creationId xmlns:a16="http://schemas.microsoft.com/office/drawing/2014/main" id="{49A1BACF-EE5E-46F8-8968-D4CF18BC01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89" name="Freeform 54">
              <a:extLst>
                <a:ext uri="{FF2B5EF4-FFF2-40B4-BE49-F238E27FC236}">
                  <a16:creationId xmlns:a16="http://schemas.microsoft.com/office/drawing/2014/main" id="{0AF8DFAF-8AF7-453E-AED7-89E59FBD7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0" name="Freeform 55">
              <a:extLst>
                <a:ext uri="{FF2B5EF4-FFF2-40B4-BE49-F238E27FC236}">
                  <a16:creationId xmlns:a16="http://schemas.microsoft.com/office/drawing/2014/main" id="{F8C26D97-8DA4-4556-92E4-2AE66B365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1" name="Freeform 56">
              <a:extLst>
                <a:ext uri="{FF2B5EF4-FFF2-40B4-BE49-F238E27FC236}">
                  <a16:creationId xmlns:a16="http://schemas.microsoft.com/office/drawing/2014/main" id="{EEF9D855-A8A7-44CC-919C-BEA327F254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2" name="Freeform 57">
              <a:extLst>
                <a:ext uri="{FF2B5EF4-FFF2-40B4-BE49-F238E27FC236}">
                  <a16:creationId xmlns:a16="http://schemas.microsoft.com/office/drawing/2014/main" id="{11F0B045-803C-4067-A182-066EEB2C4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  <p:sp>
          <p:nvSpPr>
            <p:cNvPr id="93" name="Freeform 58">
              <a:extLst>
                <a:ext uri="{FF2B5EF4-FFF2-40B4-BE49-F238E27FC236}">
                  <a16:creationId xmlns:a16="http://schemas.microsoft.com/office/drawing/2014/main" id="{3C1FCACB-EFEF-4B54-99A6-E327A637C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68ACACB-DD9E-4155-84BF-8E4D43DEC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96" name="Rectangle 95">
              <a:extLst>
                <a:ext uri="{FF2B5EF4-FFF2-40B4-BE49-F238E27FC236}">
                  <a16:creationId xmlns:a16="http://schemas.microsoft.com/office/drawing/2014/main" id="{8A7B0AF6-6256-4262-A76E-47B08EAB9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7" name="Picture 2">
              <a:extLst>
                <a:ext uri="{FF2B5EF4-FFF2-40B4-BE49-F238E27FC236}">
                  <a16:creationId xmlns:a16="http://schemas.microsoft.com/office/drawing/2014/main" id="{8034A3B1-2FBE-4771-84C6-797415E99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2" name="Picture 19" descr="En væg, der er malet med en pil og en målskiven">
            <a:extLst>
              <a:ext uri="{FF2B5EF4-FFF2-40B4-BE49-F238E27FC236}">
                <a16:creationId xmlns:a16="http://schemas.microsoft.com/office/drawing/2014/main" id="{9EC0CEDB-4528-BFB1-C520-06BEEF3236B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/>
          </a:blip>
          <a:srcRect t="10154" b="11152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BF3AEE19-128A-4FF8-954B-A9724F42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00" name="Round Diagonal Corner Rectangle 7">
              <a:extLst>
                <a:ext uri="{FF2B5EF4-FFF2-40B4-BE49-F238E27FC236}">
                  <a16:creationId xmlns:a16="http://schemas.microsoft.com/office/drawing/2014/main" id="{80F57FCB-2163-4EF8-B6A7-023F6B877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77AB9C7F-4D09-4E13-BD9A-E5C14E37AF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02" name="Freeform 32">
                <a:extLst>
                  <a:ext uri="{FF2B5EF4-FFF2-40B4-BE49-F238E27FC236}">
                    <a16:creationId xmlns:a16="http://schemas.microsoft.com/office/drawing/2014/main" id="{043B40A6-216C-4409-942A-16B4141973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3" name="Freeform 33">
                <a:extLst>
                  <a:ext uri="{FF2B5EF4-FFF2-40B4-BE49-F238E27FC236}">
                    <a16:creationId xmlns:a16="http://schemas.microsoft.com/office/drawing/2014/main" id="{6F5ED6F5-BEC7-4798-943B-12105A5178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4" name="Freeform 34">
                <a:extLst>
                  <a:ext uri="{FF2B5EF4-FFF2-40B4-BE49-F238E27FC236}">
                    <a16:creationId xmlns:a16="http://schemas.microsoft.com/office/drawing/2014/main" id="{45C6ABB9-CB59-444A-9A14-96A037BC42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5" name="Freeform 37">
                <a:extLst>
                  <a:ext uri="{FF2B5EF4-FFF2-40B4-BE49-F238E27FC236}">
                    <a16:creationId xmlns:a16="http://schemas.microsoft.com/office/drawing/2014/main" id="{C5F74DA3-506A-4911-BADD-B5DADFA9C5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6" name="Freeform 35">
                <a:extLst>
                  <a:ext uri="{FF2B5EF4-FFF2-40B4-BE49-F238E27FC236}">
                    <a16:creationId xmlns:a16="http://schemas.microsoft.com/office/drawing/2014/main" id="{364BA096-7428-4C20-ABC8-CEBBC3E678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7" name="Freeform 36">
                <a:extLst>
                  <a:ext uri="{FF2B5EF4-FFF2-40B4-BE49-F238E27FC236}">
                    <a16:creationId xmlns:a16="http://schemas.microsoft.com/office/drawing/2014/main" id="{25CA3B41-F8C1-48AF-B4B0-83A0E662AA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8" name="Freeform 38">
                <a:extLst>
                  <a:ext uri="{FF2B5EF4-FFF2-40B4-BE49-F238E27FC236}">
                    <a16:creationId xmlns:a16="http://schemas.microsoft.com/office/drawing/2014/main" id="{A2E4BFFC-0D72-4691-AC6F-6D446092C8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09" name="Freeform 39">
                <a:extLst>
                  <a:ext uri="{FF2B5EF4-FFF2-40B4-BE49-F238E27FC236}">
                    <a16:creationId xmlns:a16="http://schemas.microsoft.com/office/drawing/2014/main" id="{7E81AA48-AA02-4008-9B21-B1BB050424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0" name="Freeform 40">
                <a:extLst>
                  <a:ext uri="{FF2B5EF4-FFF2-40B4-BE49-F238E27FC236}">
                    <a16:creationId xmlns:a16="http://schemas.microsoft.com/office/drawing/2014/main" id="{08B8F28E-CB03-4B11-8575-F1AB3A12A3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1" name="Rectangle 41">
                <a:extLst>
                  <a:ext uri="{FF2B5EF4-FFF2-40B4-BE49-F238E27FC236}">
                    <a16:creationId xmlns:a16="http://schemas.microsoft.com/office/drawing/2014/main" id="{6F2B917E-B873-4E35-8D18-F116784B50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2" name="Freeform 32">
                <a:extLst>
                  <a:ext uri="{FF2B5EF4-FFF2-40B4-BE49-F238E27FC236}">
                    <a16:creationId xmlns:a16="http://schemas.microsoft.com/office/drawing/2014/main" id="{DA0EBFF7-C330-4AEE-806E-6A2D745425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3" name="Freeform 33">
                <a:extLst>
                  <a:ext uri="{FF2B5EF4-FFF2-40B4-BE49-F238E27FC236}">
                    <a16:creationId xmlns:a16="http://schemas.microsoft.com/office/drawing/2014/main" id="{2A66CF61-D72F-4E03-B74E-4BDD67D1CA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4" name="Freeform 34">
                <a:extLst>
                  <a:ext uri="{FF2B5EF4-FFF2-40B4-BE49-F238E27FC236}">
                    <a16:creationId xmlns:a16="http://schemas.microsoft.com/office/drawing/2014/main" id="{04DE5338-105A-4EB0-8FE2-D41DC2F984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5" name="Freeform 37">
                <a:extLst>
                  <a:ext uri="{FF2B5EF4-FFF2-40B4-BE49-F238E27FC236}">
                    <a16:creationId xmlns:a16="http://schemas.microsoft.com/office/drawing/2014/main" id="{C9A1C85F-5B5B-47FA-8C0C-66F75C2741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6" name="Freeform 35">
                <a:extLst>
                  <a:ext uri="{FF2B5EF4-FFF2-40B4-BE49-F238E27FC236}">
                    <a16:creationId xmlns:a16="http://schemas.microsoft.com/office/drawing/2014/main" id="{75F79533-DD24-4E6A-83A1-9E21DF565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7" name="Freeform 36">
                <a:extLst>
                  <a:ext uri="{FF2B5EF4-FFF2-40B4-BE49-F238E27FC236}">
                    <a16:creationId xmlns:a16="http://schemas.microsoft.com/office/drawing/2014/main" id="{376D6142-024F-4BD4-95B7-A6D05EF59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8" name="Freeform 38">
                <a:extLst>
                  <a:ext uri="{FF2B5EF4-FFF2-40B4-BE49-F238E27FC236}">
                    <a16:creationId xmlns:a16="http://schemas.microsoft.com/office/drawing/2014/main" id="{CD28FD54-698D-4BAD-92FC-2897067450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19" name="Freeform 39">
                <a:extLst>
                  <a:ext uri="{FF2B5EF4-FFF2-40B4-BE49-F238E27FC236}">
                    <a16:creationId xmlns:a16="http://schemas.microsoft.com/office/drawing/2014/main" id="{47EFA16F-61E8-404C-840D-A8AE44F51F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0" name="Freeform 40">
                <a:extLst>
                  <a:ext uri="{FF2B5EF4-FFF2-40B4-BE49-F238E27FC236}">
                    <a16:creationId xmlns:a16="http://schemas.microsoft.com/office/drawing/2014/main" id="{09E4A29B-6AEB-4F87-9189-F506B278A7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1" name="Rectangle 41">
                <a:extLst>
                  <a:ext uri="{FF2B5EF4-FFF2-40B4-BE49-F238E27FC236}">
                    <a16:creationId xmlns:a16="http://schemas.microsoft.com/office/drawing/2014/main" id="{338E5AEE-F711-46EB-9890-E720C8B852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da-DK"/>
              </a:p>
            </p:txBody>
          </p:sp>
        </p:grp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90A8CC6-AAB2-B90E-CDBC-2C2E418CC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0" y="2328334"/>
            <a:ext cx="6858000" cy="13678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/>
              <a:t>Projektets mål</a:t>
            </a:r>
          </a:p>
        </p:txBody>
      </p:sp>
    </p:spTree>
    <p:extLst>
      <p:ext uri="{BB962C8B-B14F-4D97-AF65-F5344CB8AC3E}">
        <p14:creationId xmlns:p14="http://schemas.microsoft.com/office/powerpoint/2010/main" val="443169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16965-EFF5-AD1D-B092-E5D986053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At kunne fremstille et </a:t>
            </a:r>
            <a:r>
              <a:rPr lang="da-DK" dirty="0" err="1"/>
              <a:t>iot</a:t>
            </a:r>
            <a:r>
              <a:rPr lang="da-DK" dirty="0"/>
              <a:t> </a:t>
            </a:r>
            <a:r>
              <a:rPr lang="da-DK" dirty="0" err="1"/>
              <a:t>device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83376EC-C8E6-BD11-33A5-93142AFD91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Design af sensor hub</a:t>
            </a:r>
          </a:p>
          <a:p>
            <a:pPr lvl="1"/>
            <a:r>
              <a:rPr lang="da-DK" dirty="0"/>
              <a:t>Hvilke sensorer var til rådighed</a:t>
            </a:r>
          </a:p>
          <a:p>
            <a:pPr lvl="1"/>
            <a:r>
              <a:rPr lang="da-DK" dirty="0"/>
              <a:t>Hvilke var relevante</a:t>
            </a:r>
          </a:p>
          <a:p>
            <a:r>
              <a:rPr lang="da-DK" dirty="0"/>
              <a:t>Data indsamling</a:t>
            </a:r>
          </a:p>
          <a:p>
            <a:pPr lvl="1"/>
            <a:r>
              <a:rPr lang="da-DK" dirty="0"/>
              <a:t>Hvad kunne lade sig gøre</a:t>
            </a:r>
          </a:p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E74262E-197C-3325-B59D-2957F0DC91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da-DK" dirty="0"/>
              <a:t>Data overførsel</a:t>
            </a:r>
          </a:p>
          <a:p>
            <a:pPr lvl="1"/>
            <a:r>
              <a:rPr lang="da-DK" dirty="0"/>
              <a:t>Hvordan kunne jeg gøre det</a:t>
            </a:r>
          </a:p>
          <a:p>
            <a:r>
              <a:rPr lang="da-DK" dirty="0"/>
              <a:t>Data præsentation</a:t>
            </a:r>
          </a:p>
          <a:p>
            <a:pPr lvl="1"/>
            <a:r>
              <a:rPr lang="da-DK" dirty="0"/>
              <a:t>Hvordan kunne data gøres brugbar</a:t>
            </a:r>
          </a:p>
        </p:txBody>
      </p:sp>
    </p:spTree>
    <p:extLst>
      <p:ext uri="{BB962C8B-B14F-4D97-AF65-F5344CB8AC3E}">
        <p14:creationId xmlns:p14="http://schemas.microsoft.com/office/powerpoint/2010/main" val="1452615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Elektronisk kredsløbskort">
            <a:extLst>
              <a:ext uri="{FF2B5EF4-FFF2-40B4-BE49-F238E27FC236}">
                <a16:creationId xmlns:a16="http://schemas.microsoft.com/office/drawing/2014/main" id="{B8A0CB88-CF66-378B-C614-C8196DA1BB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C6BE568-6ECF-BA6D-D138-2BB3D758B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Design af sensor hub</a:t>
            </a:r>
          </a:p>
        </p:txBody>
      </p:sp>
    </p:spTree>
    <p:extLst>
      <p:ext uri="{BB962C8B-B14F-4D97-AF65-F5344CB8AC3E}">
        <p14:creationId xmlns:p14="http://schemas.microsoft.com/office/powerpoint/2010/main" val="29963863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E81D4-19FD-3983-DFBC-9187C13C9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7617" y="198782"/>
            <a:ext cx="3209717" cy="1557130"/>
          </a:xfrm>
        </p:spPr>
        <p:txBody>
          <a:bodyPr>
            <a:normAutofit/>
          </a:bodyPr>
          <a:lstStyle/>
          <a:p>
            <a:r>
              <a:rPr lang="da-DK" dirty="0"/>
              <a:t>Valgte sensorer</a:t>
            </a:r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AFB82C9D-9959-CD31-50A9-DDCD199D02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569221"/>
              </p:ext>
            </p:extLst>
          </p:nvPr>
        </p:nvGraphicFramePr>
        <p:xfrm>
          <a:off x="1828800" y="1890805"/>
          <a:ext cx="9170505" cy="426583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056835">
                  <a:extLst>
                    <a:ext uri="{9D8B030D-6E8A-4147-A177-3AD203B41FA5}">
                      <a16:colId xmlns:a16="http://schemas.microsoft.com/office/drawing/2014/main" val="2758916803"/>
                    </a:ext>
                  </a:extLst>
                </a:gridCol>
                <a:gridCol w="3056835">
                  <a:extLst>
                    <a:ext uri="{9D8B030D-6E8A-4147-A177-3AD203B41FA5}">
                      <a16:colId xmlns:a16="http://schemas.microsoft.com/office/drawing/2014/main" val="3356018783"/>
                    </a:ext>
                  </a:extLst>
                </a:gridCol>
                <a:gridCol w="3056835">
                  <a:extLst>
                    <a:ext uri="{9D8B030D-6E8A-4147-A177-3AD203B41FA5}">
                      <a16:colId xmlns:a16="http://schemas.microsoft.com/office/drawing/2014/main" val="1158152456"/>
                    </a:ext>
                  </a:extLst>
                </a:gridCol>
              </a:tblGrid>
              <a:tr h="334575">
                <a:tc>
                  <a:txBody>
                    <a:bodyPr/>
                    <a:lstStyle/>
                    <a:p>
                      <a:r>
                        <a:rPr lang="da-DK" sz="1600" dirty="0"/>
                        <a:t>Sensor navn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600" dirty="0"/>
                        <a:t>Måler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600" dirty="0"/>
                        <a:t>Enhed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113757048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LDR (Light Dependent Resistor) LM393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Lys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Analog volt =&gt; Lux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198555822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Ky-38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Lyd + Registrering af klap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Lydniveau(</a:t>
                      </a:r>
                      <a:r>
                        <a:rPr lang="da-DK" sz="1400" dirty="0" err="1"/>
                        <a:t>custom</a:t>
                      </a:r>
                      <a:r>
                        <a:rPr lang="da-DK" sz="1400" dirty="0"/>
                        <a:t> </a:t>
                      </a:r>
                      <a:r>
                        <a:rPr lang="da-DK" sz="1400" dirty="0" err="1"/>
                        <a:t>levels</a:t>
                      </a:r>
                      <a:r>
                        <a:rPr lang="da-DK" sz="1400" dirty="0"/>
                        <a:t>): 1-15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959908491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r>
                        <a:rPr lang="da-DK" sz="1400" dirty="0"/>
                        <a:t>DHT11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Fugt+Temperatur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Hvor meget vand luften holder vs. Hvor meget den kan holde, i procent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493960824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DS18B20 </a:t>
                      </a:r>
                      <a:r>
                        <a:rPr lang="da-DK" sz="1400" dirty="0" err="1"/>
                        <a:t>Temperature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Temperatur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Celsius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598744165"/>
                  </a:ext>
                </a:extLst>
              </a:tr>
              <a:tr h="836437">
                <a:tc>
                  <a:txBody>
                    <a:bodyPr/>
                    <a:lstStyle/>
                    <a:p>
                      <a:r>
                        <a:rPr lang="da-DK" sz="1400" dirty="0"/>
                        <a:t>Metal </a:t>
                      </a:r>
                      <a:r>
                        <a:rPr lang="da-DK" sz="1400" dirty="0" err="1"/>
                        <a:t>Oxide</a:t>
                      </a:r>
                      <a:r>
                        <a:rPr lang="da-DK" sz="1400" dirty="0"/>
                        <a:t> Semiconductor(MQ2)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Gas arter(LPG(f.eks. Propan gas), røg, alkohol, propan, hydrogen, </a:t>
                      </a:r>
                      <a:r>
                        <a:rPr lang="da-DK" sz="1400" dirty="0" err="1"/>
                        <a:t>methan</a:t>
                      </a:r>
                      <a:r>
                        <a:rPr lang="da-DK" sz="1400" dirty="0"/>
                        <a:t>, kulilte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Ppm(parts per million)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3040137242"/>
                  </a:ext>
                </a:extLst>
              </a:tr>
              <a:tr h="5855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Gravity</a:t>
                      </a:r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Analog </a:t>
                      </a:r>
                      <a:r>
                        <a:rPr lang="da-DK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Electrochemical</a:t>
                      </a:r>
                      <a:r>
                        <a:rPr lang="da-DK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CO2 Sensor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Co2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Ppm(parts per million)</a:t>
                      </a:r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856570868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HC-SR501 PIR Motion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Bevægelse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Binary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2303138309"/>
                  </a:ext>
                </a:extLst>
              </a:tr>
              <a:tr h="334575">
                <a:tc>
                  <a:txBody>
                    <a:bodyPr/>
                    <a:lstStyle/>
                    <a:p>
                      <a:r>
                        <a:rPr lang="da-DK" sz="1400" dirty="0"/>
                        <a:t>Grove </a:t>
                      </a:r>
                      <a:r>
                        <a:rPr lang="da-DK" sz="1400" dirty="0" err="1"/>
                        <a:t>Dust</a:t>
                      </a:r>
                      <a:r>
                        <a:rPr lang="da-DK" sz="1400" dirty="0"/>
                        <a:t> Sensor (PPD42NS)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Støv</a:t>
                      </a:r>
                    </a:p>
                  </a:txBody>
                  <a:tcPr marL="83644" marR="83644" marT="41822" marB="41822"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 level(Particulate Matter level) </a:t>
                      </a:r>
                      <a:endParaRPr lang="da-DK" sz="1400" dirty="0"/>
                    </a:p>
                  </a:txBody>
                  <a:tcPr marL="83644" marR="83644" marT="41822" marB="41822"/>
                </a:tc>
                <a:extLst>
                  <a:ext uri="{0D108BD9-81ED-4DB2-BD59-A6C34878D82A}">
                    <a16:rowId xmlns:a16="http://schemas.microsoft.com/office/drawing/2014/main" val="1606171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5981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6DFB8C-DEAE-3631-7A16-D17CEF925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 indsamling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981256C-589D-7EAF-94C9-61CF1E5A8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HTTP</a:t>
            </a:r>
          </a:p>
          <a:p>
            <a:pPr lvl="1"/>
            <a:r>
              <a:rPr lang="da-DK" dirty="0"/>
              <a:t>Local</a:t>
            </a:r>
          </a:p>
          <a:p>
            <a:pPr lvl="1"/>
            <a:r>
              <a:rPr lang="da-DK"/>
              <a:t>Remote</a:t>
            </a:r>
            <a:endParaRPr lang="da-DK" dirty="0"/>
          </a:p>
          <a:p>
            <a:r>
              <a:rPr lang="da-DK" dirty="0"/>
              <a:t>MQTT</a:t>
            </a:r>
          </a:p>
          <a:p>
            <a:pPr lvl="1"/>
            <a:r>
              <a:rPr lang="da-DK" dirty="0"/>
              <a:t>Local</a:t>
            </a:r>
          </a:p>
          <a:p>
            <a:pPr lvl="1"/>
            <a:r>
              <a:rPr lang="da-DK" dirty="0"/>
              <a:t>Remote</a:t>
            </a:r>
          </a:p>
        </p:txBody>
      </p:sp>
    </p:spTree>
    <p:extLst>
      <p:ext uri="{BB962C8B-B14F-4D97-AF65-F5344CB8AC3E}">
        <p14:creationId xmlns:p14="http://schemas.microsoft.com/office/powerpoint/2010/main" val="18169115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Kredsløb">
  <a:themeElements>
    <a:clrScheme name="Kredsløb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Kredsløb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redsløb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27F0FE4E4764D479D44F0F27CC91919" ma:contentTypeVersion="9" ma:contentTypeDescription="Opret et nyt dokument." ma:contentTypeScope="" ma:versionID="56546bfe20ff9e8d4ea5fd4ecb70b603">
  <xsd:schema xmlns:xsd="http://www.w3.org/2001/XMLSchema" xmlns:xs="http://www.w3.org/2001/XMLSchema" xmlns:p="http://schemas.microsoft.com/office/2006/metadata/properties" xmlns:ns3="3126f972-443e-4c15-9c6e-4cfdb64ecaaf" xmlns:ns4="19eff6f0-4781-4e7c-ba6d-a1367fd27541" targetNamespace="http://schemas.microsoft.com/office/2006/metadata/properties" ma:root="true" ma:fieldsID="0c6a4f53e8a6f1a3818e21f723378637" ns3:_="" ns4:_="">
    <xsd:import namespace="3126f972-443e-4c15-9c6e-4cfdb64ecaaf"/>
    <xsd:import namespace="19eff6f0-4781-4e7c-ba6d-a1367fd2754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26f972-443e-4c15-9c6e-4cfdb64eca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eff6f0-4781-4e7c-ba6d-a1367fd2754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værdi for deling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126f972-443e-4c15-9c6e-4cfdb64ecaaf" xsi:nil="true"/>
  </documentManagement>
</p:properties>
</file>

<file path=customXml/itemProps1.xml><?xml version="1.0" encoding="utf-8"?>
<ds:datastoreItem xmlns:ds="http://schemas.openxmlformats.org/officeDocument/2006/customXml" ds:itemID="{BF750385-65FD-4C53-87EC-164E6BB276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8FC9A2A-5649-45EB-8D6E-854B8FDBE2B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126f972-443e-4c15-9c6e-4cfdb64ecaaf"/>
    <ds:schemaRef ds:uri="19eff6f0-4781-4e7c-ba6d-a1367fd2754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E2A78E0-BD5A-4AEE-9732-AEA379BD32AC}">
  <ds:schemaRefs>
    <ds:schemaRef ds:uri="http://purl.org/dc/terms/"/>
    <ds:schemaRef ds:uri="http://schemas.microsoft.com/office/infopath/2007/PartnerControls"/>
    <ds:schemaRef ds:uri="http://schemas.microsoft.com/office/2006/metadata/properties"/>
    <ds:schemaRef ds:uri="3126f972-443e-4c15-9c6e-4cfdb64ecaaf"/>
    <ds:schemaRef ds:uri="http://schemas.microsoft.com/office/2006/documentManagement/types"/>
    <ds:schemaRef ds:uri="http://purl.org/dc/elements/1.1/"/>
    <ds:schemaRef ds:uri="http://www.w3.org/XML/1998/namespace"/>
    <ds:schemaRef ds:uri="http://schemas.openxmlformats.org/package/2006/metadata/core-properties"/>
    <ds:schemaRef ds:uri="19eff6f0-4781-4e7c-ba6d-a1367fd27541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1b29427a-4ed3-4f0e-a3ff-ced1342f64ac}" enabled="0" method="" siteId="{1b29427a-4ed3-4f0e-a3ff-ced1342f64a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TM04033919[[fn=Kredsløb]]</Template>
  <TotalTime>913</TotalTime>
  <Words>183</Words>
  <Application>Microsoft Office PowerPoint</Application>
  <PresentationFormat>Widescreen</PresentationFormat>
  <Paragraphs>49</Paragraphs>
  <Slides>6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6</vt:i4>
      </vt:variant>
    </vt:vector>
  </HeadingPairs>
  <TitlesOfParts>
    <vt:vector size="9" baseType="lpstr">
      <vt:lpstr>Arial</vt:lpstr>
      <vt:lpstr>Tw Cen MT</vt:lpstr>
      <vt:lpstr>Kredsløb</vt:lpstr>
      <vt:lpstr>Iot Klima Sensor</vt:lpstr>
      <vt:lpstr>Projektets mål</vt:lpstr>
      <vt:lpstr>At kunne fremstille et iot device</vt:lpstr>
      <vt:lpstr>Design af sensor hub</vt:lpstr>
      <vt:lpstr>Valgte sensorer</vt:lpstr>
      <vt:lpstr>Data indsamling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Sandgaard Rasmussen (MART87U9)</dc:creator>
  <cp:lastModifiedBy>Martin Sandgaard Rasmussen (MART87U9)</cp:lastModifiedBy>
  <cp:revision>1</cp:revision>
  <dcterms:created xsi:type="dcterms:W3CDTF">2025-12-04T14:30:21Z</dcterms:created>
  <dcterms:modified xsi:type="dcterms:W3CDTF">2025-12-05T05:46:45Z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0x010100727F0FE4E4764D479D44F0F27CC91919</vt:lpwstr>
  </property>
</Properties>
</file>